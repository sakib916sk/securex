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0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65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9B136032-1BC5-3E6B-3252-B71A7503AF00}"/>
              </a:ext>
            </a:extLst>
          </p:cNvPr>
          <p:cNvSpPr/>
          <p:nvPr/>
        </p:nvSpPr>
        <p:spPr>
          <a:xfrm>
            <a:off x="725177" y="1375820"/>
            <a:ext cx="12191752" cy="542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Department of Computer Science and Engineering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6F7BA6C-E8DE-F9AF-898B-16E78BB1397F}"/>
              </a:ext>
            </a:extLst>
          </p:cNvPr>
          <p:cNvSpPr/>
          <p:nvPr/>
        </p:nvSpPr>
        <p:spPr>
          <a:xfrm>
            <a:off x="1186799" y="1961808"/>
            <a:ext cx="9125712" cy="9087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SECUREX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63DE731-BD58-7E0D-884D-30A298F05B99}"/>
              </a:ext>
            </a:extLst>
          </p:cNvPr>
          <p:cNvSpPr/>
          <p:nvPr/>
        </p:nvSpPr>
        <p:spPr>
          <a:xfrm>
            <a:off x="1171553" y="296643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security service booking and management system।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05D322F-DE24-87D8-CB1A-C7BC35D09D0F}"/>
              </a:ext>
            </a:extLst>
          </p:cNvPr>
          <p:cNvSpPr/>
          <p:nvPr/>
        </p:nvSpPr>
        <p:spPr>
          <a:xfrm>
            <a:off x="1171552" y="3470990"/>
            <a:ext cx="10519705" cy="542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Course Code: CSE 4100      	•   Field Work / Industrial Training 		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Section:7A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A6F7AB7-B5F7-A872-4EE3-039886F1B964}"/>
              </a:ext>
            </a:extLst>
          </p:cNvPr>
          <p:cNvSpPr/>
          <p:nvPr/>
        </p:nvSpPr>
        <p:spPr>
          <a:xfrm>
            <a:off x="1409297" y="4220866"/>
            <a:ext cx="4617720" cy="2743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PRESENTED BY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C7AF772-F56E-588A-BE22-ECE28039817E}"/>
              </a:ext>
            </a:extLst>
          </p:cNvPr>
          <p:cNvSpPr/>
          <p:nvPr/>
        </p:nvSpPr>
        <p:spPr>
          <a:xfrm>
            <a:off x="1642571" y="4550050"/>
            <a:ext cx="4617720" cy="500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Nazmus Shakib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1B0302E-8A49-9D25-9D12-6C048735EC9E}"/>
              </a:ext>
            </a:extLst>
          </p:cNvPr>
          <p:cNvSpPr/>
          <p:nvPr/>
        </p:nvSpPr>
        <p:spPr>
          <a:xfrm>
            <a:off x="1409297" y="5034681"/>
            <a:ext cx="4850994" cy="576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ID: 11220320852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6B18233-E9DD-8C1E-312A-0B77C8CA01E2}"/>
              </a:ext>
            </a:extLst>
          </p:cNvPr>
          <p:cNvSpPr/>
          <p:nvPr/>
        </p:nvSpPr>
        <p:spPr>
          <a:xfrm>
            <a:off x="6967362" y="4231123"/>
            <a:ext cx="4617720" cy="2743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SUPERVISED BY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C32EE7C3-6F42-C0B9-48AA-32E7451D3A19}"/>
              </a:ext>
            </a:extLst>
          </p:cNvPr>
          <p:cNvSpPr/>
          <p:nvPr/>
        </p:nvSpPr>
        <p:spPr>
          <a:xfrm>
            <a:off x="7168712" y="4618244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Zahid Hasan Rabbi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04773F85-940A-F9D2-A677-2711F955D2A9}"/>
              </a:ext>
            </a:extLst>
          </p:cNvPr>
          <p:cNvSpPr/>
          <p:nvPr/>
        </p:nvSpPr>
        <p:spPr>
          <a:xfrm>
            <a:off x="7168712" y="510287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Department of CSE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7E73168-E112-A965-EE45-85DD70FC457B}"/>
              </a:ext>
            </a:extLst>
          </p:cNvPr>
          <p:cNvSpPr/>
          <p:nvPr/>
        </p:nvSpPr>
        <p:spPr>
          <a:xfrm>
            <a:off x="5734409" y="64213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August 2026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EE22315-2ECD-BFA7-DA7A-F127025A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96" y="116619"/>
            <a:ext cx="10245012" cy="1374941"/>
          </a:xfrm>
          <a:prstGeom prst="rect">
            <a:avLst/>
          </a:prstGeom>
        </p:spPr>
      </p:pic>
      <p:sp>
        <p:nvSpPr>
          <p:cNvPr id="40" name="Rounded Rectangle 33">
            <a:extLst>
              <a:ext uri="{FF2B5EF4-FFF2-40B4-BE49-F238E27FC236}">
                <a16:creationId xmlns:a16="http://schemas.microsoft.com/office/drawing/2014/main" id="{AF845E81-0845-0960-1A96-CABF3655D9D1}"/>
              </a:ext>
            </a:extLst>
          </p:cNvPr>
          <p:cNvSpPr/>
          <p:nvPr/>
        </p:nvSpPr>
        <p:spPr>
          <a:xfrm>
            <a:off x="1439644" y="5786504"/>
            <a:ext cx="159570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5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1D1151-E6F3-5F71-60E4-E830D6E653FA}"/>
              </a:ext>
            </a:extLst>
          </p:cNvPr>
          <p:cNvSpPr txBox="1"/>
          <p:nvPr/>
        </p:nvSpPr>
        <p:spPr>
          <a:xfrm>
            <a:off x="1677467" y="5890793"/>
            <a:ext cx="1288101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dirty="0">
                <a:solidFill>
                  <a:srgbClr val="001F3F"/>
                </a:solidFill>
                <a:latin typeface="Arial"/>
              </a:rPr>
              <a:t>PHP Laravel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2960E4CF-AC21-ABA4-DCB7-03B9D1143922}"/>
              </a:ext>
            </a:extLst>
          </p:cNvPr>
          <p:cNvSpPr/>
          <p:nvPr/>
        </p:nvSpPr>
        <p:spPr>
          <a:xfrm>
            <a:off x="3908906" y="5807579"/>
            <a:ext cx="1297715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2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078A28-4020-4FF9-740E-437BDA2DE856}"/>
              </a:ext>
            </a:extLst>
          </p:cNvPr>
          <p:cNvSpPr txBox="1"/>
          <p:nvPr/>
        </p:nvSpPr>
        <p:spPr>
          <a:xfrm>
            <a:off x="4153064" y="5890793"/>
            <a:ext cx="990108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dirty="0">
                <a:solidFill>
                  <a:srgbClr val="001F3F"/>
                </a:solidFill>
                <a:latin typeface="Arial"/>
              </a:rPr>
              <a:t>MySQL</a:t>
            </a:r>
          </a:p>
        </p:txBody>
      </p:sp>
      <p:sp>
        <p:nvSpPr>
          <p:cNvPr id="48" name="Rounded Rectangle 37">
            <a:extLst>
              <a:ext uri="{FF2B5EF4-FFF2-40B4-BE49-F238E27FC236}">
                <a16:creationId xmlns:a16="http://schemas.microsoft.com/office/drawing/2014/main" id="{E3BAEDC4-6AE5-431A-C1CE-3755FF4DDCBD}"/>
              </a:ext>
            </a:extLst>
          </p:cNvPr>
          <p:cNvSpPr/>
          <p:nvPr/>
        </p:nvSpPr>
        <p:spPr>
          <a:xfrm>
            <a:off x="7126858" y="5790404"/>
            <a:ext cx="1711061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B2CAA4-9301-A8D2-2A14-DD3736435120}"/>
              </a:ext>
            </a:extLst>
          </p:cNvPr>
          <p:cNvSpPr txBox="1"/>
          <p:nvPr/>
        </p:nvSpPr>
        <p:spPr>
          <a:xfrm>
            <a:off x="7278256" y="5890793"/>
            <a:ext cx="1403455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dirty="0">
                <a:solidFill>
                  <a:srgbClr val="001F3F"/>
                </a:solidFill>
                <a:latin typeface="Arial"/>
              </a:rPr>
              <a:t>Google OAuth</a:t>
            </a:r>
          </a:p>
        </p:txBody>
      </p:sp>
      <p:sp>
        <p:nvSpPr>
          <p:cNvPr id="52" name="Rounded Rectangle 39">
            <a:extLst>
              <a:ext uri="{FF2B5EF4-FFF2-40B4-BE49-F238E27FC236}">
                <a16:creationId xmlns:a16="http://schemas.microsoft.com/office/drawing/2014/main" id="{F7829F32-E778-A879-BA3D-65948209FBA9}"/>
              </a:ext>
            </a:extLst>
          </p:cNvPr>
          <p:cNvSpPr/>
          <p:nvPr/>
        </p:nvSpPr>
        <p:spPr>
          <a:xfrm>
            <a:off x="9524106" y="5790404"/>
            <a:ext cx="19328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D99B6A-B3E3-60EE-334E-0536DD36D935}"/>
              </a:ext>
            </a:extLst>
          </p:cNvPr>
          <p:cNvSpPr txBox="1"/>
          <p:nvPr/>
        </p:nvSpPr>
        <p:spPr>
          <a:xfrm>
            <a:off x="9658312" y="5890793"/>
            <a:ext cx="1759123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dirty="0">
                <a:solidFill>
                  <a:srgbClr val="001F3F"/>
                </a:solidFill>
                <a:latin typeface="Arial"/>
              </a:rPr>
              <a:t>SMTP + PDF Invoice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DEE5A2-860B-04C1-EC5C-681219932C60}"/>
              </a:ext>
            </a:extLst>
          </p:cNvPr>
          <p:cNvSpPr txBox="1"/>
          <p:nvPr/>
        </p:nvSpPr>
        <p:spPr>
          <a:xfrm>
            <a:off x="6980235" y="474573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dirty="0">
                <a:solidFill>
                  <a:srgbClr val="00386C"/>
                </a:solidFill>
                <a:latin typeface="Arial"/>
              </a:rPr>
              <a:t>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77D53F-38AF-9AE2-1DDC-0520D05E6E6D}"/>
              </a:ext>
            </a:extLst>
          </p:cNvPr>
          <p:cNvSpPr txBox="1"/>
          <p:nvPr/>
        </p:nvSpPr>
        <p:spPr>
          <a:xfrm>
            <a:off x="5286356" y="6496435"/>
            <a:ext cx="228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dirty="0">
                <a:solidFill>
                  <a:srgbClr val="00386C"/>
                </a:solidFill>
                <a:latin typeface="Arial"/>
              </a:rPr>
              <a:t>📅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300C5F-01FF-C5E0-C6B0-37071AD249A6}"/>
              </a:ext>
            </a:extLst>
          </p:cNvPr>
          <p:cNvSpPr txBox="1"/>
          <p:nvPr/>
        </p:nvSpPr>
        <p:spPr>
          <a:xfrm>
            <a:off x="1404827" y="4709883"/>
            <a:ext cx="2926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dirty="0">
                <a:solidFill>
                  <a:srgbClr val="00386C"/>
                </a:solidFill>
                <a:latin typeface="Arial"/>
              </a:rPr>
              <a:t>👤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C6509C9-FF6C-1D05-3DA4-0ABDDE9041FD}"/>
              </a:ext>
            </a:extLst>
          </p:cNvPr>
          <p:cNvSpPr/>
          <p:nvPr/>
        </p:nvSpPr>
        <p:spPr>
          <a:xfrm>
            <a:off x="1294272" y="2703268"/>
            <a:ext cx="2176715" cy="45719"/>
          </a:xfrm>
          <a:prstGeom prst="rect">
            <a:avLst/>
          </a:prstGeom>
          <a:solidFill>
            <a:srgbClr val="F55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Shape 1">
            <a:extLst>
              <a:ext uri="{FF2B5EF4-FFF2-40B4-BE49-F238E27FC236}">
                <a16:creationId xmlns:a16="http://schemas.microsoft.com/office/drawing/2014/main" id="{F09BD85D-27DA-18EB-7CB6-7E5D254DDDF3}"/>
              </a:ext>
            </a:extLst>
          </p:cNvPr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2">
            <a:extLst>
              <a:ext uri="{FF2B5EF4-FFF2-40B4-BE49-F238E27FC236}">
                <a16:creationId xmlns:a16="http://schemas.microsoft.com/office/drawing/2014/main" id="{B137066B-028B-4362-021D-D657D5C2B70C}"/>
              </a:ext>
            </a:extLst>
          </p:cNvPr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195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256032"/>
            <a:ext cx="9429144" cy="505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Presentation Agenda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150875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19" y="1508759"/>
            <a:ext cx="76769" cy="1238159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96111" y="176479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6111" y="176479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36190" y="1663737"/>
            <a:ext cx="2243897" cy="24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36190" y="1984247"/>
            <a:ext cx="1999793" cy="597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>
                <a:latin typeface="Times New Roman"/>
              </a:rPr>
              <a:t>Problem, motivation &amp; objectives</a:t>
            </a:r>
          </a:p>
        </p:txBody>
      </p:sp>
      <p:sp>
        <p:nvSpPr>
          <p:cNvPr id="18" name="Text 16"/>
          <p:cNvSpPr/>
          <p:nvPr/>
        </p:nvSpPr>
        <p:spPr>
          <a:xfrm>
            <a:off x="3273551" y="1856231"/>
            <a:ext cx="680135" cy="378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>
                <a:solidFill>
                  <a:srgbClr val="0E76A8"/>
                </a:solidFill>
                <a:latin typeface="Times New Roman"/>
              </a:rPr>
              <a:t>3–4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43400" y="150875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399" y="1508759"/>
            <a:ext cx="76769" cy="1238159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07991" y="176479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07991" y="176479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39883" y="1566036"/>
            <a:ext cx="2510640" cy="515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Stack </a:t>
            </a:r>
            <a:r>
              <a:rPr lang="en-US" sz="2000" b="1" dirty="0">
                <a:solidFill>
                  <a:srgbClr val="031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Overview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48071" y="2193227"/>
            <a:ext cx="1637731" cy="43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MVC &amp; technologies</a:t>
            </a:r>
          </a:p>
        </p:txBody>
      </p:sp>
      <p:sp>
        <p:nvSpPr>
          <p:cNvPr id="25" name="Text 23"/>
          <p:cNvSpPr/>
          <p:nvPr/>
        </p:nvSpPr>
        <p:spPr>
          <a:xfrm>
            <a:off x="7138679" y="2223264"/>
            <a:ext cx="511791" cy="380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>
                <a:solidFill>
                  <a:srgbClr val="16A36F"/>
                </a:solidFill>
                <a:latin typeface="Times New Roman"/>
              </a:rPr>
              <a:t>5–7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55280" y="150875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955279" y="1508759"/>
            <a:ext cx="76769" cy="123815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19871" y="176479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119871" y="176479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732520" y="1572543"/>
            <a:ext cx="2029969" cy="445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Website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59951" y="2052222"/>
            <a:ext cx="1637731" cy="5513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 &amp; service catalog</a:t>
            </a:r>
          </a:p>
        </p:txBody>
      </p:sp>
      <p:sp>
        <p:nvSpPr>
          <p:cNvPr id="32" name="Text 30"/>
          <p:cNvSpPr/>
          <p:nvPr/>
        </p:nvSpPr>
        <p:spPr>
          <a:xfrm>
            <a:off x="10533491" y="1904466"/>
            <a:ext cx="700566" cy="800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 dirty="0">
                <a:solidFill>
                  <a:srgbClr val="F59E0B"/>
                </a:solidFill>
                <a:latin typeface="Times New Roman"/>
              </a:rPr>
              <a:t>8–</a:t>
            </a:r>
            <a:r>
              <a:rPr lang="en-US" sz="2400" b="1" dirty="0">
                <a:solidFill>
                  <a:srgbClr val="F59E0B"/>
                </a:solidFill>
                <a:latin typeface="Times New Roman"/>
              </a:rPr>
              <a:t>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1520" y="292607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31519" y="2926079"/>
            <a:ext cx="76769" cy="1238159"/>
          </a:xfrm>
          <a:prstGeom prst="rect">
            <a:avLst/>
          </a:prstGeom>
          <a:solidFill>
            <a:srgbClr val="6D5EF7"/>
          </a:solidFill>
          <a:ln w="12700">
            <a:solidFill>
              <a:srgbClr val="6D5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96111" y="318211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6D5EF7"/>
          </a:solidFill>
          <a:ln w="12700">
            <a:solidFill>
              <a:srgbClr val="6D5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96111" y="3319272"/>
            <a:ext cx="532263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36191" y="2982712"/>
            <a:ext cx="1862372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536191" y="3401567"/>
            <a:ext cx="1637731" cy="42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sign-up &amp; Google OAuth</a:t>
            </a:r>
          </a:p>
        </p:txBody>
      </p:sp>
      <p:sp>
        <p:nvSpPr>
          <p:cNvPr id="39" name="Text 37"/>
          <p:cNvSpPr/>
          <p:nvPr/>
        </p:nvSpPr>
        <p:spPr>
          <a:xfrm>
            <a:off x="3273551" y="3273551"/>
            <a:ext cx="680135" cy="336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D5EF7"/>
                </a:solidFill>
                <a:latin typeface="Times New Roman"/>
              </a:rPr>
              <a:t>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343400" y="292607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43399" y="2926079"/>
            <a:ext cx="76769" cy="1238159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507991" y="318211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507991" y="318211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39883" y="3092233"/>
            <a:ext cx="2624329" cy="35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&amp; Booking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48071" y="3474042"/>
            <a:ext cx="1637731" cy="40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Flowchart, tree &amp; slot validation</a:t>
            </a:r>
          </a:p>
        </p:txBody>
      </p:sp>
      <p:sp>
        <p:nvSpPr>
          <p:cNvPr id="46" name="Text 44"/>
          <p:cNvSpPr/>
          <p:nvPr/>
        </p:nvSpPr>
        <p:spPr>
          <a:xfrm>
            <a:off x="6901348" y="3566618"/>
            <a:ext cx="801332" cy="40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>
                <a:solidFill>
                  <a:srgbClr val="16A36F"/>
                </a:solidFill>
                <a:latin typeface="Times New Roman"/>
              </a:rPr>
              <a:t>11–12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55280" y="2926079"/>
            <a:ext cx="3429000" cy="123815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7955279" y="2926079"/>
            <a:ext cx="76769" cy="1238159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119871" y="318211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119871" y="318211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759951" y="3118104"/>
            <a:ext cx="2535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&amp; Admin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759951" y="3448171"/>
            <a:ext cx="1637731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control panel</a:t>
            </a:r>
          </a:p>
        </p:txBody>
      </p:sp>
      <p:sp>
        <p:nvSpPr>
          <p:cNvPr id="53" name="Text 51"/>
          <p:cNvSpPr/>
          <p:nvPr/>
        </p:nvSpPr>
        <p:spPr>
          <a:xfrm>
            <a:off x="10467010" y="3468096"/>
            <a:ext cx="777544" cy="46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>
                <a:solidFill>
                  <a:srgbClr val="0E76A8"/>
                </a:solidFill>
                <a:latin typeface="Times New Roman"/>
              </a:rPr>
              <a:t>13–15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343400" y="4434839"/>
            <a:ext cx="3429000" cy="129561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64300" y="4492290"/>
            <a:ext cx="52795" cy="123815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507991" y="4690872"/>
            <a:ext cx="532263" cy="574860"/>
          </a:xfrm>
          <a:prstGeom prst="roundRect">
            <a:avLst>
              <a:gd name="adj" fmla="val 2115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507991" y="4690872"/>
            <a:ext cx="532263" cy="57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148070" y="4504276"/>
            <a:ext cx="2616141" cy="28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&amp;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152051" y="4894116"/>
            <a:ext cx="1836578" cy="757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>
                <a:latin typeface="Times New Roman"/>
              </a:rPr>
              <a:t>Email, invoice, outcomes &amp; limitations</a:t>
            </a:r>
          </a:p>
        </p:txBody>
      </p:sp>
      <p:sp>
        <p:nvSpPr>
          <p:cNvPr id="60" name="Text 58"/>
          <p:cNvSpPr/>
          <p:nvPr/>
        </p:nvSpPr>
        <p:spPr>
          <a:xfrm>
            <a:off x="6785802" y="4854927"/>
            <a:ext cx="836061" cy="574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2400" b="1">
                <a:solidFill>
                  <a:srgbClr val="F59E0B"/>
                </a:solidFill>
                <a:latin typeface="Times New Roman"/>
              </a:rPr>
              <a:t>16–19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256032"/>
            <a:ext cx="8828158" cy="50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&amp; Motivation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3200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1600200"/>
            <a:ext cx="68580" cy="4535424"/>
          </a:xfrm>
          <a:prstGeom prst="rect">
            <a:avLst/>
          </a:prstGeom>
          <a:solidFill>
            <a:srgbClr val="E14848"/>
          </a:solidFill>
          <a:ln w="12700">
            <a:solidFill>
              <a:srgbClr val="E14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53312" y="1410205"/>
            <a:ext cx="4240073" cy="70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Current Pain Points</a:t>
            </a:r>
            <a:endParaRPr 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15821" y="2112264"/>
            <a:ext cx="4611320" cy="371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system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Double-booking risk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notifications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admin dashboard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Error-prone workflow</a:t>
            </a:r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68580" cy="4535424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76872" y="1346316"/>
            <a:ext cx="4361688" cy="875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Securex Solution</a:t>
            </a:r>
            <a:endParaRPr lang="en-US" sz="32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76872" y="2112264"/>
            <a:ext cx="4695444" cy="371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Online booking platform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Slot conflict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and PDF invoice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admin control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history tracking</a:t>
            </a:r>
          </a:p>
        </p:txBody>
      </p:sp>
      <p:sp>
        <p:nvSpPr>
          <p:cNvPr id="20" name="Shape 18"/>
          <p:cNvSpPr/>
          <p:nvPr/>
        </p:nvSpPr>
        <p:spPr>
          <a:xfrm>
            <a:off x="5937180" y="3161671"/>
            <a:ext cx="457200" cy="1042245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256031"/>
            <a:ext cx="8790836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Objectives &amp; 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3200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28321" y="1231705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28321" y="1231705"/>
            <a:ext cx="68580" cy="1264671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56765" y="1454987"/>
            <a:ext cx="4633928" cy="91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service discovery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2913" y="1509523"/>
            <a:ext cx="408988" cy="831405"/>
          </a:xfrm>
          <a:prstGeom prst="roundRect">
            <a:avLst>
              <a:gd name="adj" fmla="val 23529"/>
            </a:avLst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70431" y="1885428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Shape 16"/>
          <p:cNvSpPr/>
          <p:nvPr/>
        </p:nvSpPr>
        <p:spPr>
          <a:xfrm>
            <a:off x="6260441" y="1231705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0441" y="1231705"/>
            <a:ext cx="68580" cy="1264671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902601" y="1475462"/>
            <a:ext cx="4985969" cy="81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94692" y="1522301"/>
            <a:ext cx="442239" cy="773094"/>
          </a:xfrm>
          <a:prstGeom prst="roundRect">
            <a:avLst>
              <a:gd name="adj" fmla="val 23529"/>
            </a:avLst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66181" y="1818478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8096" y="2908389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68096" y="2908389"/>
            <a:ext cx="68580" cy="1264671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396540" y="3155915"/>
            <a:ext cx="4568396" cy="80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booking conflicts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2688" y="3202755"/>
            <a:ext cx="408988" cy="755887"/>
          </a:xfrm>
          <a:prstGeom prst="roundRect">
            <a:avLst>
              <a:gd name="adj" fmla="val 23529"/>
            </a:avLst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89838" y="3561625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00216" y="2908389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300216" y="2908389"/>
            <a:ext cx="68580" cy="1264671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959488" y="2999830"/>
            <a:ext cx="4887935" cy="107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 admin control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23660" y="3196304"/>
            <a:ext cx="475488" cy="762340"/>
          </a:xfrm>
          <a:prstGeom prst="roundRect">
            <a:avLst>
              <a:gd name="adj" fmla="val 23529"/>
            </a:avLst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500139" y="3547909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1520" y="4663441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31520" y="4663441"/>
            <a:ext cx="68580" cy="1264671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384348" y="4875306"/>
            <a:ext cx="4568396" cy="96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customer follow-up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96112" y="4949637"/>
            <a:ext cx="408988" cy="793173"/>
          </a:xfrm>
          <a:prstGeom prst="roundRect">
            <a:avLst>
              <a:gd name="adj" fmla="val 23529"/>
            </a:avLst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53262" y="5312105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63640" y="4663441"/>
            <a:ext cx="5166360" cy="1264671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263640" y="4663441"/>
            <a:ext cx="68580" cy="1264671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59420" y="5229631"/>
            <a:ext cx="4742564" cy="327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for future deployment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87084" y="4987175"/>
            <a:ext cx="445006" cy="755636"/>
          </a:xfrm>
          <a:prstGeom prst="roundRect">
            <a:avLst>
              <a:gd name="adj" fmla="val 23529"/>
            </a:avLst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69380" y="5350734"/>
            <a:ext cx="310896" cy="1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64592"/>
            <a:ext cx="9372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 MVC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3200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88920" y="1143000"/>
            <a:ext cx="6583680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0" descr="/mnt/data/securex_assets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52728"/>
            <a:ext cx="5303520" cy="39776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77240" y="1928654"/>
            <a:ext cx="1417320" cy="397969"/>
          </a:xfrm>
          <a:prstGeom prst="roundRect">
            <a:avLst>
              <a:gd name="adj" fmla="val 29412"/>
            </a:avLst>
          </a:prstGeom>
          <a:solidFill>
            <a:srgbClr val="E14848">
              <a:alpha val="94000"/>
            </a:srgbClr>
          </a:solidFill>
          <a:ln w="12700">
            <a:solidFill>
              <a:srgbClr val="E1484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50392" y="2010951"/>
            <a:ext cx="1271016" cy="19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7240" y="2843054"/>
            <a:ext cx="1417320" cy="397969"/>
          </a:xfrm>
          <a:prstGeom prst="roundRect">
            <a:avLst>
              <a:gd name="adj" fmla="val 29412"/>
            </a:avLst>
          </a:prstGeom>
          <a:solidFill>
            <a:srgbClr val="0E76A8">
              <a:alpha val="94000"/>
            </a:srgbClr>
          </a:solidFill>
          <a:ln w="12700">
            <a:solidFill>
              <a:srgbClr val="0E76A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50392" y="2925351"/>
            <a:ext cx="1271016" cy="24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3802427"/>
            <a:ext cx="1417320" cy="404338"/>
          </a:xfrm>
          <a:prstGeom prst="roundRect">
            <a:avLst>
              <a:gd name="adj" fmla="val 29412"/>
            </a:avLst>
          </a:prstGeom>
          <a:solidFill>
            <a:srgbClr val="6D5EF7">
              <a:alpha val="94000"/>
            </a:srgbClr>
          </a:solidFill>
          <a:ln w="12700">
            <a:solidFill>
              <a:srgbClr val="6D5E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50392" y="3839750"/>
            <a:ext cx="1271016" cy="33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OAuth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012680" y="1891331"/>
            <a:ext cx="1417320" cy="435292"/>
          </a:xfrm>
          <a:prstGeom prst="roundRect">
            <a:avLst>
              <a:gd name="adj" fmla="val 29412"/>
            </a:avLst>
          </a:prstGeom>
          <a:solidFill>
            <a:srgbClr val="16A36F">
              <a:alpha val="94000"/>
            </a:srgbClr>
          </a:solidFill>
          <a:ln w="12700">
            <a:solidFill>
              <a:srgbClr val="16A36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070592" y="1951858"/>
            <a:ext cx="1271016" cy="2864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0012680" y="2805731"/>
            <a:ext cx="1417320" cy="435292"/>
          </a:xfrm>
          <a:prstGeom prst="roundRect">
            <a:avLst>
              <a:gd name="adj" fmla="val 29412"/>
            </a:avLst>
          </a:prstGeom>
          <a:solidFill>
            <a:srgbClr val="F59E0B">
              <a:alpha val="9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0085832" y="2805731"/>
            <a:ext cx="1271016" cy="43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DomPDF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012680" y="3720130"/>
            <a:ext cx="1417320" cy="435287"/>
          </a:xfrm>
          <a:prstGeom prst="roundRect">
            <a:avLst>
              <a:gd name="adj" fmla="val 29412"/>
            </a:avLst>
          </a:prstGeom>
          <a:solidFill>
            <a:srgbClr val="0E76A8">
              <a:alpha val="94000"/>
            </a:srgbClr>
          </a:solidFill>
          <a:ln w="12700">
            <a:solidFill>
              <a:srgbClr val="0E76A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10085832" y="3742790"/>
            <a:ext cx="1271016" cy="43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77240" y="5532120"/>
            <a:ext cx="111404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Clean MVC separation keeps routes, controllers, models and views.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64592"/>
            <a:ext cx="79781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Overall System Flowchart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8977" y="914399"/>
            <a:ext cx="11482158" cy="5422383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5CC1ED-0724-962A-2D92-E4FD4F06E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16" y="914399"/>
            <a:ext cx="10049070" cy="5422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37486"/>
            <a:ext cx="7978140" cy="60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Simplified User &amp; Admin Structure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5"/>
            <a:ext cx="50292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81331" y="1014984"/>
            <a:ext cx="2891313" cy="594362"/>
          </a:xfrm>
          <a:prstGeom prst="roundRect">
            <a:avLst>
              <a:gd name="adj" fmla="val 32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20524" y="1096946"/>
            <a:ext cx="2891313" cy="405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" y="1719071"/>
            <a:ext cx="4765050" cy="3960263"/>
          </a:xfrm>
          <a:prstGeom prst="roundRect">
            <a:avLst>
              <a:gd name="adj" fmla="val 4571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63072" y="1719071"/>
            <a:ext cx="73085" cy="3960264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357884" y="1795431"/>
            <a:ext cx="4035085" cy="32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3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30318" y="2306841"/>
            <a:ext cx="4035085" cy="3610755"/>
          </a:xfrm>
          <a:prstGeom prst="rect">
            <a:avLst/>
          </a:prstGeom>
          <a:noFill/>
          <a:ln/>
        </p:spPr>
        <p:txBody>
          <a:bodyPr wrap="square" lIns="0" tIns="91440" rIns="0" bIns="0" rtlCol="0" anchor="ctr">
            <a:noAutofit/>
          </a:bodyPr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81486" y="1719071"/>
            <a:ext cx="4765050" cy="4029954"/>
          </a:xfrm>
          <a:prstGeom prst="roundRect">
            <a:avLst>
              <a:gd name="adj" fmla="val 4571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881486" y="1719071"/>
            <a:ext cx="76038" cy="4029954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411837" y="1719071"/>
            <a:ext cx="4035085" cy="639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en-US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62171" y="2376530"/>
            <a:ext cx="4084751" cy="33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
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Services
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Bookings
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Status
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Send Email
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Users</a:t>
            </a:r>
          </a:p>
        </p:txBody>
      </p:sp>
      <p:sp>
        <p:nvSpPr>
          <p:cNvPr id="22" name="Shape 20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6A0FC-84AA-706B-9B58-7717F3E9FD72}"/>
              </a:ext>
            </a:extLst>
          </p:cNvPr>
          <p:cNvSpPr txBox="1"/>
          <p:nvPr/>
        </p:nvSpPr>
        <p:spPr>
          <a:xfrm>
            <a:off x="1357884" y="2234781"/>
            <a:ext cx="45390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Login
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 Services
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 Service
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Slot
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Booking
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Bookings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55449"/>
            <a:ext cx="8971944" cy="51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Public Home page and Login Page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37745"/>
            <a:ext cx="502920" cy="3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11" name="Shape 9"/>
          <p:cNvSpPr/>
          <p:nvPr/>
        </p:nvSpPr>
        <p:spPr>
          <a:xfrm>
            <a:off x="685800" y="1142999"/>
            <a:ext cx="11272218" cy="5107705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6" y="1234439"/>
            <a:ext cx="10933053" cy="360545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5256" y="1330452"/>
            <a:ext cx="45719" cy="14629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33272" y="1330452"/>
            <a:ext cx="45719" cy="1462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61288" y="1330452"/>
            <a:ext cx="45719" cy="14629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84F676-A313-B348-3DF0-EDC287E1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3" y="1673724"/>
            <a:ext cx="5722185" cy="45350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5A6877-2BA7-CF7C-F737-AD91264E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576" y="1673724"/>
            <a:ext cx="5156003" cy="4535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219458"/>
            <a:ext cx="7857774" cy="48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Services Catalog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4460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799" y="1143000"/>
            <a:ext cx="8234265" cy="513892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7" y="1234440"/>
            <a:ext cx="7920579" cy="362748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5255" y="1330451"/>
            <a:ext cx="104563" cy="96733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33271" y="1330451"/>
            <a:ext cx="104563" cy="96733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61287" y="1330451"/>
            <a:ext cx="104563" cy="96733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9045095" y="1234440"/>
            <a:ext cx="0" cy="4979748"/>
          </a:xfrm>
          <a:prstGeom prst="line">
            <a:avLst/>
          </a:prstGeom>
          <a:noFill/>
          <a:ln w="254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15D3B1-E1D2-598B-2FB6-9CB3B14AE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" y="1688628"/>
            <a:ext cx="7920578" cy="4525560"/>
          </a:xfrm>
          <a:prstGeom prst="rect">
            <a:avLst/>
          </a:prstGeom>
        </p:spPr>
      </p:pic>
      <p:sp>
        <p:nvSpPr>
          <p:cNvPr id="25" name="Shape 27">
            <a:extLst>
              <a:ext uri="{FF2B5EF4-FFF2-40B4-BE49-F238E27FC236}">
                <a16:creationId xmlns:a16="http://schemas.microsoft.com/office/drawing/2014/main" id="{43342F45-F78C-BA33-D15D-5F3AA5990D4F}"/>
              </a:ext>
            </a:extLst>
          </p:cNvPr>
          <p:cNvSpPr/>
          <p:nvPr/>
        </p:nvSpPr>
        <p:spPr>
          <a:xfrm>
            <a:off x="9245392" y="1192436"/>
            <a:ext cx="2609769" cy="1042593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EB5704AE-6A71-EE2E-AEE0-701C809E3BAE}"/>
              </a:ext>
            </a:extLst>
          </p:cNvPr>
          <p:cNvSpPr/>
          <p:nvPr/>
        </p:nvSpPr>
        <p:spPr>
          <a:xfrm>
            <a:off x="9245392" y="1211373"/>
            <a:ext cx="2609768" cy="974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service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title</a:t>
            </a:r>
            <a:endParaRPr lang="en-US"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F6E30B1-1BBC-7A0C-FAE5-9FF8F803AAC3}"/>
              </a:ext>
            </a:extLst>
          </p:cNvPr>
          <p:cNvSpPr/>
          <p:nvPr/>
        </p:nvSpPr>
        <p:spPr>
          <a:xfrm>
            <a:off x="9245392" y="2580032"/>
            <a:ext cx="2609769" cy="1042593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841C7C9-1F82-AEAA-E6F0-0451A682A555}"/>
              </a:ext>
            </a:extLst>
          </p:cNvPr>
          <p:cNvSpPr/>
          <p:nvPr/>
        </p:nvSpPr>
        <p:spPr>
          <a:xfrm>
            <a:off x="9331076" y="2616424"/>
            <a:ext cx="2438400" cy="98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pricing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A1456414-3344-81B9-6D08-3C404F0744C7}"/>
              </a:ext>
            </a:extLst>
          </p:cNvPr>
          <p:cNvSpPr/>
          <p:nvPr/>
        </p:nvSpPr>
        <p:spPr>
          <a:xfrm>
            <a:off x="9245392" y="5218905"/>
            <a:ext cx="2609769" cy="1042593"/>
          </a:xfrm>
          <a:prstGeom prst="roundRect">
            <a:avLst>
              <a:gd name="adj" fmla="val 18750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205DB33F-E1A4-8BB7-3669-18189C433FF8}"/>
              </a:ext>
            </a:extLst>
          </p:cNvPr>
          <p:cNvSpPr/>
          <p:nvPr/>
        </p:nvSpPr>
        <p:spPr>
          <a:xfrm>
            <a:off x="9245392" y="5281457"/>
            <a:ext cx="2524084" cy="82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updates</a:t>
            </a:r>
            <a:endParaRPr 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504DDA4E-01DE-D064-2B58-BB971D7A76F2}"/>
              </a:ext>
            </a:extLst>
          </p:cNvPr>
          <p:cNvSpPr/>
          <p:nvPr/>
        </p:nvSpPr>
        <p:spPr>
          <a:xfrm>
            <a:off x="9245392" y="3920068"/>
            <a:ext cx="2609769" cy="1042593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1C3C1C00-306B-0081-73F1-DB3F5511F8FF}"/>
              </a:ext>
            </a:extLst>
          </p:cNvPr>
          <p:cNvSpPr/>
          <p:nvPr/>
        </p:nvSpPr>
        <p:spPr>
          <a:xfrm>
            <a:off x="9483476" y="3954820"/>
            <a:ext cx="2286000" cy="946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8D9ED-DE76-926D-4D2E-BFFD2CCDDDD8}"/>
              </a:ext>
            </a:extLst>
          </p:cNvPr>
          <p:cNvSpPr txBox="1"/>
          <p:nvPr/>
        </p:nvSpPr>
        <p:spPr>
          <a:xfrm>
            <a:off x="9256598" y="3940308"/>
            <a:ext cx="2609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services directly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64592"/>
            <a:ext cx="79781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Login &amp; Sign-Up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1" name="Shape 9"/>
          <p:cNvSpPr/>
          <p:nvPr/>
        </p:nvSpPr>
        <p:spPr>
          <a:xfrm>
            <a:off x="685800" y="1142999"/>
            <a:ext cx="11241274" cy="4641795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8" y="1234439"/>
            <a:ext cx="11012424" cy="415683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5256" y="1330451"/>
            <a:ext cx="73152" cy="110849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33272" y="1330451"/>
            <a:ext cx="73152" cy="110849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61288" y="1330451"/>
            <a:ext cx="73152" cy="110849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628022" y="5821371"/>
            <a:ext cx="45719" cy="423979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768096" y="5821375"/>
            <a:ext cx="3600724" cy="4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entry point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32307" y="6446519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89921" y="6575751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9711E0C-216D-6664-4143-BFBF06CD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4" t="15090" r="9960" b="13565"/>
          <a:stretch>
            <a:fillRect/>
          </a:stretch>
        </p:blipFill>
        <p:spPr>
          <a:xfrm>
            <a:off x="4328927" y="1807759"/>
            <a:ext cx="2976942" cy="38775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552886C-FD9A-3842-3605-E7A653979A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18" t="24054" r="32437" b="4637"/>
          <a:stretch>
            <a:fillRect/>
          </a:stretch>
        </p:blipFill>
        <p:spPr>
          <a:xfrm>
            <a:off x="905255" y="1807759"/>
            <a:ext cx="1539365" cy="39072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A715FF6-BB7A-BE27-4D1F-AB93149F22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009" t="8559" r="32069" b="9456"/>
          <a:stretch>
            <a:fillRect/>
          </a:stretch>
        </p:blipFill>
        <p:spPr>
          <a:xfrm>
            <a:off x="2444620" y="1807758"/>
            <a:ext cx="1794735" cy="3877525"/>
          </a:xfrm>
          <a:prstGeom prst="rect">
            <a:avLst/>
          </a:prstGeom>
        </p:spPr>
      </p:pic>
      <p:sp>
        <p:nvSpPr>
          <p:cNvPr id="39" name="Shape 16">
            <a:extLst>
              <a:ext uri="{FF2B5EF4-FFF2-40B4-BE49-F238E27FC236}">
                <a16:creationId xmlns:a16="http://schemas.microsoft.com/office/drawing/2014/main" id="{63692ADE-5395-2DEA-096A-83112CA19CD7}"/>
              </a:ext>
            </a:extLst>
          </p:cNvPr>
          <p:cNvSpPr/>
          <p:nvPr/>
        </p:nvSpPr>
        <p:spPr>
          <a:xfrm>
            <a:off x="4328927" y="5920246"/>
            <a:ext cx="45719" cy="327121"/>
          </a:xfrm>
          <a:prstGeom prst="rect">
            <a:avLst/>
          </a:prstGeom>
          <a:solidFill>
            <a:srgbClr val="6D5EF7"/>
          </a:solidFill>
          <a:ln w="12700">
            <a:solidFill>
              <a:srgbClr val="6D5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FB53B8E-2463-0E51-24C4-E6DC0E29B43C}"/>
              </a:ext>
            </a:extLst>
          </p:cNvPr>
          <p:cNvSpPr/>
          <p:nvPr/>
        </p:nvSpPr>
        <p:spPr>
          <a:xfrm>
            <a:off x="4508894" y="5850311"/>
            <a:ext cx="2383848" cy="406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OAuth 2.0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8089BA-74C7-5C77-3A96-CC975FB06D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287" t="31167" r="35051" b="15827"/>
          <a:stretch>
            <a:fillRect/>
          </a:stretch>
        </p:blipFill>
        <p:spPr>
          <a:xfrm>
            <a:off x="7364093" y="1836095"/>
            <a:ext cx="2127225" cy="393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994463-6A49-F6D8-00B7-54B7F9F6995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506" t="28360" r="35623" b="13894"/>
          <a:stretch>
            <a:fillRect/>
          </a:stretch>
        </p:blipFill>
        <p:spPr>
          <a:xfrm>
            <a:off x="9636311" y="1824536"/>
            <a:ext cx="2290763" cy="39434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09728"/>
            <a:ext cx="78204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Slot Conflict Detection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WORKFLOW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1142999"/>
            <a:ext cx="5925312" cy="4910321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8" y="1234440"/>
            <a:ext cx="5656072" cy="382622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5256" y="1330451"/>
            <a:ext cx="73152" cy="102033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33272" y="1330451"/>
            <a:ext cx="73152" cy="102033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61288" y="1330451"/>
            <a:ext cx="73152" cy="102033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818376" y="5297070"/>
            <a:ext cx="5145024" cy="94134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Result: double-booking is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blocked before data is saved.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85800" y="628396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06901A2C-AAC5-7BB5-E4BD-2BF5B039CAED}"/>
              </a:ext>
            </a:extLst>
          </p:cNvPr>
          <p:cNvSpPr/>
          <p:nvPr/>
        </p:nvSpPr>
        <p:spPr>
          <a:xfrm>
            <a:off x="6790945" y="925576"/>
            <a:ext cx="5207011" cy="40605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D0A6F45-3424-CF95-F1BE-4F04723AE134}"/>
              </a:ext>
            </a:extLst>
          </p:cNvPr>
          <p:cNvSpPr/>
          <p:nvPr/>
        </p:nvSpPr>
        <p:spPr>
          <a:xfrm>
            <a:off x="6900673" y="1017016"/>
            <a:ext cx="5008649" cy="286630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CE20778D-CA99-0066-A077-05F2C5AA8959}"/>
              </a:ext>
            </a:extLst>
          </p:cNvPr>
          <p:cNvSpPr/>
          <p:nvPr/>
        </p:nvSpPr>
        <p:spPr>
          <a:xfrm>
            <a:off x="7010400" y="1113028"/>
            <a:ext cx="66121" cy="7643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6DA50A6D-2499-FF76-34FD-BD10B8C29C7D}"/>
              </a:ext>
            </a:extLst>
          </p:cNvPr>
          <p:cNvSpPr/>
          <p:nvPr/>
        </p:nvSpPr>
        <p:spPr>
          <a:xfrm>
            <a:off x="7138416" y="1113028"/>
            <a:ext cx="66121" cy="7643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820C4118-83B5-11CE-67EE-37C543ABCD6F}"/>
              </a:ext>
            </a:extLst>
          </p:cNvPr>
          <p:cNvSpPr/>
          <p:nvPr/>
        </p:nvSpPr>
        <p:spPr>
          <a:xfrm>
            <a:off x="7266432" y="1113028"/>
            <a:ext cx="66121" cy="7643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8744189-E1BE-B8BF-498F-B2FDF4AB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09" y="1662606"/>
            <a:ext cx="5656072" cy="426233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8B6C4A4-78CB-376E-516E-4B68AB062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73" y="1420103"/>
            <a:ext cx="5008649" cy="34971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1" y="0"/>
            <a:ext cx="78989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Booking request Admin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7"/>
            <a:ext cx="502920" cy="365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1142999"/>
            <a:ext cx="8761804" cy="5138922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7" y="1234439"/>
            <a:ext cx="8425351" cy="411114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5255" y="1330451"/>
            <a:ext cx="112151" cy="10963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33271" y="1330451"/>
            <a:ext cx="112151" cy="10963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61287" y="1330451"/>
            <a:ext cx="112151" cy="10963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9543612" y="1076960"/>
            <a:ext cx="0" cy="5070403"/>
          </a:xfrm>
          <a:prstGeom prst="line">
            <a:avLst/>
          </a:prstGeom>
          <a:noFill/>
          <a:ln w="254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9615328" y="1882521"/>
            <a:ext cx="1731294" cy="526088"/>
          </a:xfrm>
          <a:prstGeom prst="roundRect">
            <a:avLst>
              <a:gd name="adj" fmla="val 29412"/>
            </a:avLst>
          </a:prstGeom>
          <a:solidFill>
            <a:srgbClr val="F59E0B">
              <a:alpha val="9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688480" y="1882520"/>
            <a:ext cx="1490418" cy="5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615328" y="2649376"/>
            <a:ext cx="1731294" cy="526088"/>
          </a:xfrm>
          <a:prstGeom prst="roundRect">
            <a:avLst>
              <a:gd name="adj" fmla="val 29412"/>
            </a:avLst>
          </a:prstGeom>
          <a:solidFill>
            <a:srgbClr val="16A36F">
              <a:alpha val="94000"/>
            </a:srgbClr>
          </a:solidFill>
          <a:ln w="12700">
            <a:solidFill>
              <a:srgbClr val="16A36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9688480" y="2649375"/>
            <a:ext cx="1490418" cy="5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633896" y="3490960"/>
            <a:ext cx="1731294" cy="526088"/>
          </a:xfrm>
          <a:prstGeom prst="roundRect">
            <a:avLst>
              <a:gd name="adj" fmla="val 29412"/>
            </a:avLst>
          </a:prstGeom>
          <a:solidFill>
            <a:srgbClr val="E14848">
              <a:alpha val="94000"/>
            </a:srgbClr>
          </a:solidFill>
          <a:ln w="12700">
            <a:solidFill>
              <a:srgbClr val="E1484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9707048" y="3490961"/>
            <a:ext cx="1490418" cy="50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656064" y="4257815"/>
            <a:ext cx="1731294" cy="526088"/>
          </a:xfrm>
          <a:prstGeom prst="roundRect">
            <a:avLst>
              <a:gd name="adj" fmla="val 29412"/>
            </a:avLst>
          </a:prstGeom>
          <a:solidFill>
            <a:srgbClr val="0E76A8">
              <a:alpha val="94000"/>
            </a:srgbClr>
          </a:solidFill>
          <a:ln w="12700">
            <a:solidFill>
              <a:srgbClr val="0E76A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729216" y="4311687"/>
            <a:ext cx="1490418" cy="40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656064" y="5043027"/>
            <a:ext cx="1731294" cy="526088"/>
          </a:xfrm>
          <a:prstGeom prst="roundRect">
            <a:avLst>
              <a:gd name="adj" fmla="val 29412"/>
            </a:avLst>
          </a:prstGeom>
          <a:solidFill>
            <a:srgbClr val="6B7280">
              <a:alpha val="94000"/>
            </a:srgbClr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9729216" y="5043028"/>
            <a:ext cx="1490418" cy="52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161287" y="6442002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1CC6C47-FE99-8632-02F4-1B80EF88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2" y="1773449"/>
            <a:ext cx="8425350" cy="43973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09728"/>
            <a:ext cx="7854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Admin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List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37745"/>
            <a:ext cx="50292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1" name="Shape 9"/>
          <p:cNvSpPr/>
          <p:nvPr/>
        </p:nvSpPr>
        <p:spPr>
          <a:xfrm>
            <a:off x="754380" y="950976"/>
            <a:ext cx="8152628" cy="5403006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85165" y="1112592"/>
            <a:ext cx="7868102" cy="432241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02185" y="1277502"/>
            <a:ext cx="91730" cy="11526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30201" y="1277502"/>
            <a:ext cx="91730" cy="11526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58217" y="1277502"/>
            <a:ext cx="91730" cy="11526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9020834" y="1065271"/>
            <a:ext cx="0" cy="5141502"/>
          </a:xfrm>
          <a:prstGeom prst="line">
            <a:avLst/>
          </a:prstGeom>
          <a:noFill/>
          <a:ln w="25400">
            <a:solidFill>
              <a:srgbClr val="16A36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658368" y="6446520"/>
            <a:ext cx="9021796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AB59C2D-416C-CD7D-4B15-ACC67D713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65" y="1585193"/>
            <a:ext cx="7868102" cy="4621580"/>
          </a:xfrm>
          <a:prstGeom prst="rect">
            <a:avLst/>
          </a:prstGeom>
        </p:spPr>
      </p:pic>
      <p:sp>
        <p:nvSpPr>
          <p:cNvPr id="45" name="Shape 27">
            <a:extLst>
              <a:ext uri="{FF2B5EF4-FFF2-40B4-BE49-F238E27FC236}">
                <a16:creationId xmlns:a16="http://schemas.microsoft.com/office/drawing/2014/main" id="{3B5F65E1-099C-8F7E-2303-E6591AA4A766}"/>
              </a:ext>
            </a:extLst>
          </p:cNvPr>
          <p:cNvSpPr/>
          <p:nvPr/>
        </p:nvSpPr>
        <p:spPr>
          <a:xfrm>
            <a:off x="9151622" y="2048646"/>
            <a:ext cx="2371684" cy="790017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9">
            <a:extLst>
              <a:ext uri="{FF2B5EF4-FFF2-40B4-BE49-F238E27FC236}">
                <a16:creationId xmlns:a16="http://schemas.microsoft.com/office/drawing/2014/main" id="{B05FBF09-8D06-4E19-C137-BF671F9CEA65}"/>
              </a:ext>
            </a:extLst>
          </p:cNvPr>
          <p:cNvSpPr/>
          <p:nvPr/>
        </p:nvSpPr>
        <p:spPr>
          <a:xfrm>
            <a:off x="9151621" y="2051126"/>
            <a:ext cx="2371683" cy="73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services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0550CEA1-E7B5-FED4-7696-1F9ACB8C65F0}"/>
              </a:ext>
            </a:extLst>
          </p:cNvPr>
          <p:cNvSpPr/>
          <p:nvPr/>
        </p:nvSpPr>
        <p:spPr>
          <a:xfrm>
            <a:off x="9151622" y="3072347"/>
            <a:ext cx="2371684" cy="790017"/>
          </a:xfrm>
          <a:prstGeom prst="roundRect">
            <a:avLst>
              <a:gd name="adj" fmla="val 18750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FA132A08-C8BB-C560-2334-3416A04F3466}"/>
              </a:ext>
            </a:extLst>
          </p:cNvPr>
          <p:cNvSpPr/>
          <p:nvPr/>
        </p:nvSpPr>
        <p:spPr>
          <a:xfrm>
            <a:off x="9221671" y="3095131"/>
            <a:ext cx="2215949" cy="747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or Delete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CCCF0D2C-5DCA-F2EC-27C1-482CFEC6644F}"/>
              </a:ext>
            </a:extLst>
          </p:cNvPr>
          <p:cNvSpPr/>
          <p:nvPr/>
        </p:nvSpPr>
        <p:spPr>
          <a:xfrm>
            <a:off x="9134661" y="5083079"/>
            <a:ext cx="2371684" cy="790017"/>
          </a:xfrm>
          <a:prstGeom prst="roundRect">
            <a:avLst>
              <a:gd name="adj" fmla="val 18750"/>
            </a:avLst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D2A37B76-28C3-4BD9-F947-FB27B32C17BB}"/>
              </a:ext>
            </a:extLst>
          </p:cNvPr>
          <p:cNvSpPr/>
          <p:nvPr/>
        </p:nvSpPr>
        <p:spPr>
          <a:xfrm>
            <a:off x="9136443" y="5160163"/>
            <a:ext cx="2293816" cy="626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all services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0DFEC61D-B4E3-DB22-A711-0C9E3D7F7B24}"/>
              </a:ext>
            </a:extLst>
          </p:cNvPr>
          <p:cNvSpPr/>
          <p:nvPr/>
        </p:nvSpPr>
        <p:spPr>
          <a:xfrm>
            <a:off x="9151622" y="4095135"/>
            <a:ext cx="2371684" cy="790017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C6193632-C406-39DB-EEC4-5F2D2510E3A9}"/>
              </a:ext>
            </a:extLst>
          </p:cNvPr>
          <p:cNvSpPr/>
          <p:nvPr/>
        </p:nvSpPr>
        <p:spPr>
          <a:xfrm>
            <a:off x="9360169" y="4106695"/>
            <a:ext cx="2077452" cy="717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87EFD5-4271-3496-679E-FA5AA3EDC3D3}"/>
              </a:ext>
            </a:extLst>
          </p:cNvPr>
          <p:cNvSpPr txBox="1"/>
          <p:nvPr/>
        </p:nvSpPr>
        <p:spPr>
          <a:xfrm>
            <a:off x="9251987" y="4077560"/>
            <a:ext cx="207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price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09729"/>
            <a:ext cx="7680960" cy="53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User Management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37745"/>
            <a:ext cx="50292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7" y="864107"/>
            <a:ext cx="8140399" cy="552754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955534"/>
            <a:ext cx="7861384" cy="390180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77823" y="1051545"/>
            <a:ext cx="95523" cy="1040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39" y="1051545"/>
            <a:ext cx="95523" cy="10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33855" y="1051545"/>
            <a:ext cx="95523" cy="10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937006" y="864107"/>
            <a:ext cx="0" cy="5527548"/>
          </a:xfrm>
          <a:prstGeom prst="line">
            <a:avLst/>
          </a:prstGeom>
          <a:noFill/>
          <a:ln w="254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3833305C-B5EE-CE4D-C8AC-81FD1D5330AB}"/>
              </a:ext>
            </a:extLst>
          </p:cNvPr>
          <p:cNvSpPr/>
          <p:nvPr/>
        </p:nvSpPr>
        <p:spPr>
          <a:xfrm>
            <a:off x="9112498" y="1824314"/>
            <a:ext cx="2609769" cy="631200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9A221A0-FB05-FFB9-6A2B-F5936F518954}"/>
              </a:ext>
            </a:extLst>
          </p:cNvPr>
          <p:cNvSpPr/>
          <p:nvPr/>
        </p:nvSpPr>
        <p:spPr>
          <a:xfrm>
            <a:off x="9112498" y="1650430"/>
            <a:ext cx="2609768" cy="974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user details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D589D67-FD5D-D6FC-989D-BC327E9B3BF6}"/>
              </a:ext>
            </a:extLst>
          </p:cNvPr>
          <p:cNvSpPr/>
          <p:nvPr/>
        </p:nvSpPr>
        <p:spPr>
          <a:xfrm>
            <a:off x="9112498" y="2716832"/>
            <a:ext cx="2609769" cy="631200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0A3A126-45AE-BBCB-9357-7FB6EB4E868F}"/>
              </a:ext>
            </a:extLst>
          </p:cNvPr>
          <p:cNvSpPr/>
          <p:nvPr/>
        </p:nvSpPr>
        <p:spPr>
          <a:xfrm>
            <a:off x="9198182" y="2520828"/>
            <a:ext cx="2438400" cy="98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admin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20D10377-0EC1-642F-3D93-067B25DA6673}"/>
              </a:ext>
            </a:extLst>
          </p:cNvPr>
          <p:cNvSpPr/>
          <p:nvPr/>
        </p:nvSpPr>
        <p:spPr>
          <a:xfrm>
            <a:off x="9112498" y="4446282"/>
            <a:ext cx="2609769" cy="689649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DD76ED50-6975-664D-EADA-E4D5ED3675BA}"/>
              </a:ext>
            </a:extLst>
          </p:cNvPr>
          <p:cNvSpPr/>
          <p:nvPr/>
        </p:nvSpPr>
        <p:spPr>
          <a:xfrm>
            <a:off x="9198182" y="4497851"/>
            <a:ext cx="2438400" cy="5636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user signup</a:t>
            </a:r>
            <a:endParaRPr 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CDD7EAC8-ED4D-0126-D09E-B77A9D19B4B1}"/>
              </a:ext>
            </a:extLst>
          </p:cNvPr>
          <p:cNvSpPr/>
          <p:nvPr/>
        </p:nvSpPr>
        <p:spPr>
          <a:xfrm>
            <a:off x="9112498" y="3539818"/>
            <a:ext cx="2609769" cy="669869"/>
          </a:xfrm>
          <a:prstGeom prst="roundRect">
            <a:avLst>
              <a:gd name="adj" fmla="val 18750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009BE41A-FB9D-5876-F5BD-4EC18E5BD59E}"/>
              </a:ext>
            </a:extLst>
          </p:cNvPr>
          <p:cNvSpPr/>
          <p:nvPr/>
        </p:nvSpPr>
        <p:spPr>
          <a:xfrm>
            <a:off x="9350582" y="3386054"/>
            <a:ext cx="2286000" cy="946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A0D47A8-3DE3-2E0A-A1C3-5F19C8100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3" y="1395340"/>
            <a:ext cx="7927466" cy="494145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E7459BD-F468-388F-E416-92DB5276A99D}"/>
              </a:ext>
            </a:extLst>
          </p:cNvPr>
          <p:cNvSpPr txBox="1"/>
          <p:nvPr/>
        </p:nvSpPr>
        <p:spPr>
          <a:xfrm>
            <a:off x="9155341" y="3647092"/>
            <a:ext cx="2524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Users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93308"/>
            <a:ext cx="7790688" cy="546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Booking Requests Management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7"/>
            <a:ext cx="502920" cy="365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914401"/>
            <a:ext cx="5942938" cy="547725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1060538"/>
            <a:ext cx="5774944" cy="274320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77823" y="1156550"/>
            <a:ext cx="83093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39" y="1156550"/>
            <a:ext cx="83093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33855" y="1156550"/>
            <a:ext cx="83093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0070A2-1B30-94F9-93C8-4F55BD66C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14978"/>
            <a:ext cx="5774944" cy="4895394"/>
          </a:xfrm>
          <a:prstGeom prst="rect">
            <a:avLst/>
          </a:prstGeom>
        </p:spPr>
      </p:pic>
      <p:sp>
        <p:nvSpPr>
          <p:cNvPr id="17" name="Shape 15">
            <a:extLst>
              <a:ext uri="{FF2B5EF4-FFF2-40B4-BE49-F238E27FC236}">
                <a16:creationId xmlns:a16="http://schemas.microsoft.com/office/drawing/2014/main" id="{776AE935-D978-DBB2-8FE8-79FDBBCB0ABA}"/>
              </a:ext>
            </a:extLst>
          </p:cNvPr>
          <p:cNvSpPr/>
          <p:nvPr/>
        </p:nvSpPr>
        <p:spPr>
          <a:xfrm>
            <a:off x="6762825" y="1065271"/>
            <a:ext cx="0" cy="5141502"/>
          </a:xfrm>
          <a:prstGeom prst="line">
            <a:avLst/>
          </a:prstGeom>
          <a:noFill/>
          <a:ln w="25400">
            <a:solidFill>
              <a:srgbClr val="16A36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80C2DD-30B7-5433-92A8-604BCEC54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31" y="969265"/>
            <a:ext cx="5302658" cy="54772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Email Automation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8320" y="918972"/>
            <a:ext cx="11521440" cy="4893181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143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4810" y="1010874"/>
            <a:ext cx="11262390" cy="421302"/>
          </a:xfrm>
          <a:prstGeom prst="roundRect">
            <a:avLst>
              <a:gd name="adj" fmla="val 2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6688" y="1164574"/>
            <a:ext cx="83438" cy="11234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74704" y="1164574"/>
            <a:ext cx="83438" cy="112347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2720" y="1164574"/>
            <a:ext cx="83438" cy="112347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2310414" y="5903596"/>
            <a:ext cx="7913767" cy="5623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2541142" y="5903596"/>
            <a:ext cx="70659" cy="562356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2860721" y="5958368"/>
            <a:ext cx="7235444" cy="41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automation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95753" y="6556248"/>
            <a:ext cx="11258275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8B6E54C-28C8-1712-3EFE-6CF20872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0" t="11272" r="16179" b="12328"/>
          <a:stretch>
            <a:fillRect/>
          </a:stretch>
        </p:blipFill>
        <p:spPr>
          <a:xfrm>
            <a:off x="8079232" y="1559897"/>
            <a:ext cx="3728720" cy="39171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B769E1-6DB8-2D06-BED2-E2919A0C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00" t="20524" r="28838" b="13956"/>
          <a:stretch>
            <a:fillRect/>
          </a:stretch>
        </p:blipFill>
        <p:spPr>
          <a:xfrm>
            <a:off x="4298948" y="1559898"/>
            <a:ext cx="3728721" cy="39918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5FBFD77-A21A-2E05-1BA3-48C62DFCC8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60" t="9944" r="22430" b="16972"/>
          <a:stretch>
            <a:fillRect/>
          </a:stretch>
        </p:blipFill>
        <p:spPr>
          <a:xfrm>
            <a:off x="658368" y="1523619"/>
            <a:ext cx="3589017" cy="40280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1" y="109728"/>
            <a:ext cx="831880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Technical Challenge: Routing Refactoring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1609530"/>
            <a:ext cx="4983480" cy="4119463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68680" y="1609530"/>
            <a:ext cx="68580" cy="4119463"/>
          </a:xfrm>
          <a:prstGeom prst="rect">
            <a:avLst/>
          </a:prstGeom>
          <a:solidFill>
            <a:srgbClr val="E14848"/>
          </a:solidFill>
          <a:ln w="12700">
            <a:solidFill>
              <a:srgbClr val="E14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99032" y="1755834"/>
            <a:ext cx="4325112" cy="75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99032" y="2121594"/>
            <a:ext cx="4325112" cy="341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Blade template links pointed to static file paths, causing 404-style navigation failures.
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href="about.html"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0" y="1609530"/>
            <a:ext cx="4983480" cy="4119463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609530"/>
            <a:ext cx="68580" cy="4119463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31152" y="1755834"/>
            <a:ext cx="4325112" cy="759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</a:t>
            </a:r>
            <a:endParaRPr lang="en-US" sz="28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31152" y="2121594"/>
            <a:ext cx="4325112" cy="341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 was refactored to Laravel route() helpers for dynamic, maintainable URLs.
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 route('about') }}</a:t>
            </a:r>
          </a:p>
        </p:txBody>
      </p:sp>
      <p:sp>
        <p:nvSpPr>
          <p:cNvPr id="20" name="Shape 18"/>
          <p:cNvSpPr/>
          <p:nvPr/>
        </p:nvSpPr>
        <p:spPr>
          <a:xfrm>
            <a:off x="5852160" y="2889691"/>
            <a:ext cx="457200" cy="70619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804672"/>
            <a:ext cx="10927080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Key Outcomes &amp; Results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19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153619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1536192"/>
            <a:ext cx="68580" cy="82296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57300" y="1682495"/>
            <a:ext cx="4329684" cy="53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Frontend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153619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72200" y="1536192"/>
            <a:ext cx="68580" cy="822960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697980" y="1682496"/>
            <a:ext cx="4329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" y="263347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31520" y="2633472"/>
            <a:ext cx="685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64336" y="2779775"/>
            <a:ext cx="4422648" cy="53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Double-Bookings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263347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72200" y="2633472"/>
            <a:ext cx="68580" cy="822960"/>
          </a:xfrm>
          <a:prstGeom prst="rect">
            <a:avLst/>
          </a:prstGeom>
          <a:solidFill>
            <a:srgbClr val="6D5EF7"/>
          </a:solidFill>
          <a:ln w="12700">
            <a:solidFill>
              <a:srgbClr val="6D5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97980" y="2779776"/>
            <a:ext cx="4329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Admin Control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1520" y="373075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3730752"/>
            <a:ext cx="68580" cy="82296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257300" y="3877056"/>
            <a:ext cx="4329684" cy="53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3730752"/>
            <a:ext cx="49834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4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172200" y="3730752"/>
            <a:ext cx="68580" cy="822960"/>
          </a:xfrm>
          <a:prstGeom prst="rect">
            <a:avLst/>
          </a:prstGeom>
          <a:solidFill>
            <a:srgbClr val="E14848"/>
          </a:solidFill>
          <a:ln w="12700">
            <a:solidFill>
              <a:srgbClr val="E14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697980" y="3877056"/>
            <a:ext cx="4329684" cy="53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 Resolved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57300" y="5175505"/>
            <a:ext cx="10287000" cy="1130684"/>
          </a:xfrm>
          <a:prstGeom prst="roundRect">
            <a:avLst>
              <a:gd name="adj" fmla="val 2181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28700" y="5212081"/>
            <a:ext cx="10661904" cy="1002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Securex is ready for real-world demonstration: discovery → booking → admin review → email confirmation → invoice.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41148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1338" y="804672"/>
            <a:ext cx="11580662" cy="0"/>
          </a:xfrm>
          <a:prstGeom prst="line">
            <a:avLst/>
          </a:prstGeom>
          <a:noFill/>
          <a:ln w="10160">
            <a:solidFill>
              <a:srgbClr val="D7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54866"/>
            <a:ext cx="7680960" cy="5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0F172A"/>
                </a:solidFill>
                <a:latin typeface="Times New Roman"/>
              </a:rPr>
              <a:t>Limitation &amp; Future Work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722376"/>
            <a:ext cx="123444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32520" y="2926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6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ROADMAP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18520" y="219456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06121F"/>
          </a:solidFill>
          <a:ln w="12700">
            <a:solidFill>
              <a:srgbClr val="06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18520" y="236420"/>
            <a:ext cx="502920" cy="348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 flipH="1">
            <a:off x="1059352" y="1627529"/>
            <a:ext cx="69045" cy="3998822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98987" y="1538348"/>
            <a:ext cx="4486901" cy="567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Limitation</a:t>
            </a:r>
            <a:endParaRPr lang="en-US" sz="32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41976" y="1621865"/>
            <a:ext cx="53087" cy="3998820"/>
          </a:xfrm>
          <a:prstGeom prst="rect">
            <a:avLst/>
          </a:prstGeom>
          <a:solidFill>
            <a:srgbClr val="0E76A8"/>
          </a:solidFill>
          <a:ln w="12700">
            <a:solidFill>
              <a:srgbClr val="0E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85337" y="1627529"/>
            <a:ext cx="4486901" cy="567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85337" y="2017596"/>
            <a:ext cx="4688538" cy="380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bKash / Stripe payment gateway
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Live technician GPS tracking
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in-app chat
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Ratings, analytics and mobile app</a:t>
            </a:r>
          </a:p>
        </p:txBody>
      </p:sp>
      <p:sp>
        <p:nvSpPr>
          <p:cNvPr id="20" name="Shape 18"/>
          <p:cNvSpPr/>
          <p:nvPr/>
        </p:nvSpPr>
        <p:spPr>
          <a:xfrm>
            <a:off x="658368" y="6446520"/>
            <a:ext cx="10927080" cy="0"/>
          </a:xfrm>
          <a:prstGeom prst="line">
            <a:avLst/>
          </a:prstGeom>
          <a:noFill/>
          <a:ln w="7620">
            <a:solidFill>
              <a:srgbClr val="D7E0E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3232" y="6556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E5453-5071-7414-E564-7A6D1BDA5A0F}"/>
              </a:ext>
            </a:extLst>
          </p:cNvPr>
          <p:cNvSpPr txBox="1"/>
          <p:nvPr/>
        </p:nvSpPr>
        <p:spPr>
          <a:xfrm>
            <a:off x="1279737" y="2380543"/>
            <a:ext cx="5662239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sz="2400" b="1" dirty="0">
                <a:latin typeface="Times New Roman"/>
              </a:rPr>
              <a:t>• Payment gateway not integrated yet</a:t>
            </a:r>
          </a:p>
          <a:p>
            <a:pPr>
              <a:lnSpc>
                <a:spcPct val="200000"/>
              </a:lnSpc>
            </a:pPr>
            <a:r>
              <a:rPr sz="2400" b="1" dirty="0">
                <a:latin typeface="Times New Roman"/>
              </a:rPr>
              <a:t>• No live technician tracking system</a:t>
            </a:r>
          </a:p>
          <a:p>
            <a:pPr>
              <a:lnSpc>
                <a:spcPct val="200000"/>
              </a:lnSpc>
            </a:pPr>
            <a:r>
              <a:rPr sz="2400" b="1" dirty="0">
                <a:latin typeface="Times New Roman"/>
              </a:rPr>
              <a:t>• No real-time chat support included</a:t>
            </a:r>
          </a:p>
          <a:p>
            <a:pPr>
              <a:lnSpc>
                <a:spcPct val="200000"/>
              </a:lnSpc>
            </a:pPr>
            <a:r>
              <a:rPr sz="2400" b="1" dirty="0">
                <a:latin typeface="Times New Roman"/>
              </a:rPr>
              <a:t>• Mobile app not developed yet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6F"/>
          </a:solidFill>
          <a:ln w="12700">
            <a:solidFill>
              <a:srgbClr val="16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382138" y="4397909"/>
            <a:ext cx="4476579" cy="936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Thank You…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31760" y="5294508"/>
            <a:ext cx="2997200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10160">
            <a:solidFill>
              <a:srgbClr val="8D9AAA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64739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9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602</Words>
  <Application>Microsoft Office PowerPoint</Application>
  <PresentationFormat>Widescreen</PresentationFormat>
  <Paragraphs>234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SECUREX — CCTV &amp; Security Solution System</dc:title>
  <dc:subject>Securex Professional Presentation Redesign</dc:subject>
  <dc:creator>OpenAI</dc:creator>
  <cp:lastModifiedBy>MD Nazmus Shakib</cp:lastModifiedBy>
  <cp:revision>26</cp:revision>
  <dcterms:created xsi:type="dcterms:W3CDTF">2026-07-28T16:37:15Z</dcterms:created>
  <dcterms:modified xsi:type="dcterms:W3CDTF">2026-08-03T20:40:03Z</dcterms:modified>
</cp:coreProperties>
</file>